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all «...» placeholders with real team details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DRAM reference footprint spans ~78 lattice cells and a dropped via alters exactly one of them -- roughly 1.3% of the content separating the true site from its lattice-shifted rival. 87.5% of identifiable sites ARE correctly proposed by the candidate stage; the loss is in ranking them, not in finding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both «...» placeholders with the real URLs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143000"/>
            <a:ext cx="8595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3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DRIFT-SENSE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94360" y="201168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Navigation-Error Recovery for Wafer Inspection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256032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B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one site inside a sea of identical repeating cells — by measuring the geometry instead of searching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94360" y="3520440"/>
            <a:ext cx="6766560" cy="2286000"/>
          </a:xfrm>
          <a:prstGeom prst="roundRect">
            <a:avLst>
              <a:gd name="adj" fmla="val 1600"/>
            </a:avLst>
          </a:prstGeom>
          <a:solidFill>
            <a:srgbClr val="1A222C"/>
          </a:solidFill>
          <a:ln w="12700">
            <a:solidFill>
              <a:srgbClr val="2C37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03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406908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651760" y="40690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«TEAM NAME»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471416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&amp; roles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51760" y="447141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«NAME — role»,  «NAME — role»,  «NAME — role»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8737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51760" y="4873752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«COLLEGE NAME»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276088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D8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527608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«EMAIL»  ·  «PHONE»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26680" y="3520440"/>
            <a:ext cx="3867912" cy="2286000"/>
          </a:xfrm>
          <a:prstGeom prst="roundRect">
            <a:avLst>
              <a:gd name="adj" fmla="val 1600"/>
            </a:avLst>
          </a:prstGeom>
          <a:solidFill>
            <a:srgbClr val="1A222C"/>
          </a:solidFill>
          <a:ln w="12700">
            <a:solidFill>
              <a:srgbClr val="2C37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9288" y="36758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92.5%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9482328" y="36758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where a non-periodic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is in the field of view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19288" y="43616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0.10%</a:t>
            </a:r>
            <a:endParaRPr lang="en-US" sz="2500" dirty="0"/>
          </a:p>
        </p:txBody>
      </p:sp>
      <p:sp>
        <p:nvSpPr>
          <p:cNvPr id="19" name="Text 17"/>
          <p:cNvSpPr/>
          <p:nvPr/>
        </p:nvSpPr>
        <p:spPr>
          <a:xfrm>
            <a:off x="9482328" y="43616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error in the recovered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10x magnification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019288" y="504748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2.9s</a:t>
            </a:r>
            <a:endParaRPr lang="en-US" sz="2500" dirty="0"/>
          </a:p>
        </p:txBody>
      </p:sp>
      <p:sp>
        <p:nvSpPr>
          <p:cNvPr id="21" name="Text 19"/>
          <p:cNvSpPr/>
          <p:nvPr/>
        </p:nvSpPr>
        <p:spPr>
          <a:xfrm>
            <a:off x="9482328" y="5047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1000x1000 image pair,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BAA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CPU 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94360" y="60807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Materials · i4C Hackathon · Problem Statement: Drift-Sense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16152" y="347472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Addressed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16152" y="877824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Drift-Sense — Navigation-Error Recovery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4173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wafer inspection tool must return to the same site thousands of times a day. Between visits the stage drifts — thermal expansion, fab-floor vibration, mechanical slack — and the tool lands several pixels away.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 cannot detect this from the landed image, because every die carries the same repeating layout: the structure at the wrong location looks almost identical to the right one.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383280"/>
            <a:ext cx="5943600" cy="1051560"/>
          </a:xfrm>
          <a:prstGeom prst="roundRect">
            <a:avLst>
              <a:gd name="adj" fmla="val 3478"/>
            </a:avLst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3520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if the tool cannot prove it is on the right cell, every measurement trended over time is comparing two different places on the die.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46177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template matching breaks down exactly where the layouts are most regular — DRAM arrays, FinFET gate fields.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657x657px window at a 9px pitch, ~30 correlation peaks sit within 0.003 of the global maximum.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among them is not a matching problem. It is an identifiability problem.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39128" y="1316736"/>
            <a:ext cx="4608576" cy="4608576"/>
          </a:xfrm>
          <a:prstGeom prst="roundRect">
            <a:avLst>
              <a:gd name="adj" fmla="val 794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04304" y="158191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79792" y="158191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0" y="158191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30768" y="158191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06256" y="158191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81744" y="158191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57232" y="158191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332720" y="158191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08208" y="158191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04304" y="205740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9792" y="205740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55280" y="205740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30768" y="205740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906256" y="205740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81744" y="205740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57232" y="205740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32720" y="205740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08208" y="205740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04304" y="253288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79792" y="253288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955280" y="253288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30768" y="253288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906256" y="253288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381744" y="253288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57232" y="253288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32720" y="253288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808208" y="253288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04304" y="300837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79792" y="300837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55280" y="300837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30768" y="300837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06256" y="300837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81744" y="300837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857232" y="300837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332720" y="300837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808208" y="300837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04304" y="3483864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79792" y="3483864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55280" y="3483864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30768" y="3483864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906256" y="3483864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381744" y="3483864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857232" y="3483864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332720" y="3483864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808208" y="3483864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004304" y="395935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479792" y="395935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955280" y="395935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30768" y="3959352"/>
            <a:ext cx="274320" cy="274320"/>
          </a:xfrm>
          <a:prstGeom prst="ellipse">
            <a:avLst/>
          </a:prstGeom>
          <a:solidFill>
            <a:srgbClr val="1FB6C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906256" y="395935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381744" y="395935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857232" y="395935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332720" y="395935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808208" y="3959352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04304" y="443484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479792" y="443484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955280" y="443484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30768" y="443484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906256" y="443484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381744" y="443484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857232" y="443484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332720" y="443484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808208" y="4434840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7004304" y="491032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79792" y="491032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955280" y="491032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430768" y="491032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906256" y="491032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9381744" y="491032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9857232" y="491032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332720" y="491032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808208" y="4910328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7004304" y="538581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479792" y="538581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7955280" y="538581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430768" y="538581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06256" y="538581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9381744" y="538581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857232" y="538581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0332720" y="538581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808208" y="5385816"/>
            <a:ext cx="274320" cy="274320"/>
          </a:xfrm>
          <a:prstGeom prst="ellipse">
            <a:avLst/>
          </a:prstGeom>
          <a:solidFill>
            <a:srgbClr val="C3CDD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739128" y="6035040"/>
            <a:ext cx="4608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cell is a valid-looking match. Only one is correct.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16152" y="347472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Description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16152" y="877824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architectures · classical, measurement-first localization · zero learned weights on the shipped path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3456432" cy="2286000"/>
          </a:xfrm>
          <a:prstGeom prst="roundRect">
            <a:avLst>
              <a:gd name="adj" fmla="val 160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55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850392" y="204825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DRAM and FinFET.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50392" y="2670048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generator renders word-line/bit-line grids with contact vias, and dense fin fields crossed by gate bars. Both are evaluated in every split, 50/50.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06824" y="1572768"/>
            <a:ext cx="3456432" cy="2286000"/>
          </a:xfrm>
          <a:prstGeom prst="roundRect">
            <a:avLst>
              <a:gd name="adj" fmla="val 160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2856" y="1755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62856" y="204825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Classical / geometric — by measurement.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62856" y="2670048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learned alternatives were built and evaluated held-out. A CNN re-ranker scores 2.9% against 38.6% for the classical matched filter. A listwise learned ranker reaches 64.3% -&gt; 67.1% (p = 0.69) — real, but not significant.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9288" y="1572768"/>
            <a:ext cx="3456432" cy="2286000"/>
          </a:xfrm>
          <a:prstGeom prst="roundRect">
            <a:avLst>
              <a:gd name="adj" fmla="val 160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75564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75320" y="2048256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the geometry; then discriminate.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670048"/>
            <a:ext cx="29626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unknown ~10x magnification IS the ratio of the two lattice pitches. Measure it, and the search collapses from a blind sweep to a handful of geometrically permitted positions.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9436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beats template matching on periodic layouts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4360" y="4590288"/>
            <a:ext cx="11000232" cy="694944"/>
          </a:xfrm>
          <a:prstGeom prst="roundRect">
            <a:avLst>
              <a:gd name="adj" fmla="val 5263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" y="4590288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matching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743200" y="4590288"/>
            <a:ext cx="8577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Sweeps a scale band blindly, slides the template, takes the argmax of the correlation surface.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5376672"/>
            <a:ext cx="11000232" cy="694944"/>
          </a:xfrm>
          <a:prstGeom prst="roundRect">
            <a:avLst>
              <a:gd name="adj" fmla="val 5263"/>
            </a:avLst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376672"/>
            <a:ext cx="1828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5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Drift-Sense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2743200" y="5376672"/>
            <a:ext cx="85770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magnification and rotation from the spectrum, spectrally subtracts the lattice so only aperiodic landmarks remain, then makes the surviving candidates compete against each other.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16152" y="347472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16152" y="877824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generator (left) and localization pipeline (right) — every augmentation cited, see slide 9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5029200" cy="4663440"/>
          </a:xfrm>
          <a:prstGeom prst="roundRect">
            <a:avLst>
              <a:gd name="adj" fmla="val 784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6420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generator  ·  dataset_generator.py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9751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37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--style {dram,finfet,both}  --n  --out  --difficulty-mix  --placement  --noise-scale  --pitch-shift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2505456"/>
            <a:ext cx="45720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rendered supersampled, then area-averaged down 10x — demagnification without aliasing.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Imaging chain in physical order: edge brightening → astigmatic PSF → scan distortion → charging → shading → sensor noise.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Poisson + Gaussian draw per capture; search side uniformly noisier than reference.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applied to the reference crop only — rotating the search canvas silently corrupts ground truth.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Aperiodic landmarks injected deliberately: array corner, dropped/doubled via, gate crossing.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records the true centre AND whether the site is identifiable at all.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1481328"/>
            <a:ext cx="5605272" cy="4663440"/>
          </a:xfrm>
          <a:prstGeom prst="roundRect">
            <a:avLst>
              <a:gd name="adj" fmla="val 784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664208"/>
            <a:ext cx="5056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Localization  ·  localize.py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63640" y="1975104"/>
            <a:ext cx="5056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7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localize.py reference.png search.png   →   "x, y"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63640" y="2432304"/>
            <a:ext cx="256032" cy="256032"/>
          </a:xfrm>
          <a:prstGeom prst="ellipse">
            <a:avLst/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24323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611112" y="237744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Lattice sensor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11112" y="2606040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 spectrum → pitch, orientation. Magnification = pitch ratio, measured to 0.10%.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3054096"/>
            <a:ext cx="256032" cy="256032"/>
          </a:xfrm>
          <a:prstGeom prst="ellipse">
            <a:avLst/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30540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11112" y="299923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+ phase lock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11112" y="3227832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Sub-bin multi-harmonic angle (0.15°). Cross-image phase pins the centre modulo the pitch.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3675888"/>
            <a:ext cx="256032" cy="256032"/>
          </a:xfrm>
          <a:prstGeom prst="ellipse">
            <a:avLst/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63640" y="36758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611112" y="3621024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Aperiodic residual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11112" y="3849624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notch deletes the lattice. Only landmarks survive — the sole channel carrying absolute identity.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4297680"/>
            <a:ext cx="256032" cy="256032"/>
          </a:xfrm>
          <a:prstGeom prst="ellipse">
            <a:avLst/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4297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611112" y="4242816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11112" y="4471416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Decimated multi-scale NCC over the full frame, plus residual peaks. Cheap, and only ever proposes.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63640" y="4919472"/>
            <a:ext cx="256032" cy="256032"/>
          </a:xfrm>
          <a:prstGeom prst="ellipse">
            <a:avLst/>
          </a:prstGeom>
          <a:solidFill>
            <a:srgbClr val="1FB6C4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491947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611112" y="4864608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Rescore at full res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611112" y="5093208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crops upsampled to reference resolution — decided where cells actually differ.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5541264"/>
            <a:ext cx="256032" cy="256032"/>
          </a:xfrm>
          <a:prstGeom prst="ellipse">
            <a:avLst/>
          </a:prstGeom>
          <a:solidFill>
            <a:srgbClr val="1FB6C4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5541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11112" y="548640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611112" y="5715000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Landmark evidence judges. The mandated centre rule breaks genuine ties only.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16152" y="347472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&amp; Uniqueness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16152" y="877824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a stronger backbone would not have given us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5349240" cy="1847088"/>
          </a:xfrm>
          <a:prstGeom prst="roundRect">
            <a:avLst>
              <a:gd name="adj" fmla="val 198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0392" y="1810512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FB6C4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71016" y="179222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10x scale is measured, not searched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68680" y="2286000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of the two lattice pitches IS the unknown magnification. A blind 8-point sweep over 8.3–11.7 becomes a tight measured bracket, so the reference footprint lands within ~1px of truth.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572768"/>
            <a:ext cx="5349240" cy="1847088"/>
          </a:xfrm>
          <a:prstGeom prst="roundRect">
            <a:avLst>
              <a:gd name="adj" fmla="val 198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3952" y="1810512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FB6C4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3952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94576" y="1792224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lattice is spectrally subtracted before matching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92240" y="2286000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the two aperiodic residuals isolates exactly the content that carries absolute identity. This is also what makes honest abstention possible: in a true array interior the channel is flat by construction.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602736"/>
            <a:ext cx="5349240" cy="1847088"/>
          </a:xfrm>
          <a:prstGeom prst="roundRect">
            <a:avLst>
              <a:gd name="adj" fmla="val 198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" y="3840480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FB6C4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71016" y="382219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Candidates compete instead of being scored alone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68680" y="4315968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Beliefs are normalised across the candidate set, and a lattice-phase consensus term scores each candidate against the phase the others agree on — information invisible to any per-patch classifier.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602736"/>
            <a:ext cx="5349240" cy="1847088"/>
          </a:xfrm>
          <a:prstGeom prst="roundRect">
            <a:avLst>
              <a:gd name="adj" fmla="val 198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73952" y="3840480"/>
            <a:ext cx="310896" cy="310896"/>
          </a:xfrm>
          <a:prstGeom prst="roundRect">
            <a:avLst>
              <a:gd name="adj" fmla="val 29412"/>
            </a:avLst>
          </a:prstGeom>
          <a:solidFill>
            <a:srgbClr val="1FB6C4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73952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94576" y="3822192"/>
            <a:ext cx="4434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induction: making the lattice prove its own geometry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92240" y="4315968"/>
            <a:ext cx="4828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pitch is tested the way one proves a statement over the integers — if pitch p is real, lag n·p must also be a peak. Catches 13 / 13 silent lattice failures at zero false alarms, and predicts solvability (r = -0.346, p = 0.00043).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5742432"/>
            <a:ext cx="11000232" cy="658368"/>
          </a:xfrm>
          <a:prstGeom prst="roundRect">
            <a:avLst>
              <a:gd name="adj" fmla="val 5556"/>
            </a:avLst>
          </a:prstGeom>
          <a:solidFill>
            <a:srgbClr val="FBEEDA"/>
          </a:solidFill>
          <a:ln w="12700">
            <a:solidFill>
              <a:srgbClr val="D98A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5742432"/>
            <a:ext cx="10488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4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one meta-choice: every idea measured that did NOT pay is documented rather than deleted — the centre-distance prior, the phase penalty, the calibrated commit gate, induction as a scale gate, and the CNN re-ranker (held-out: right on 0 trials the classical fusion gets wrong, so the weight sweep picks 0).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16152" y="347472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16152" y="877824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randomized pairs, uniform placement, 50/50 DRAM/FinFET — produced by benchmark.py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481328"/>
            <a:ext cx="2612898" cy="1078992"/>
          </a:xfrm>
          <a:prstGeom prst="roundRect">
            <a:avLst>
              <a:gd name="adj" fmla="val 339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3816" y="1554480"/>
            <a:ext cx="2247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49.0%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13816" y="2121408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15px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pairs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90138" y="1481328"/>
            <a:ext cx="2612898" cy="1078992"/>
          </a:xfrm>
          <a:prstGeom prst="roundRect">
            <a:avLst>
              <a:gd name="adj" fmla="val 339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09594" y="1554480"/>
            <a:ext cx="2247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61.2%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609594" y="2121408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15px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identifiable pairs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85916" y="1481328"/>
            <a:ext cx="2612898" cy="1078992"/>
          </a:xfrm>
          <a:prstGeom prst="roundRect">
            <a:avLst>
              <a:gd name="adj" fmla="val 339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5372" y="1554480"/>
            <a:ext cx="2247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37.0%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5372" y="2121408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5px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100 pairs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81694" y="1481328"/>
            <a:ext cx="2612898" cy="1078992"/>
          </a:xfrm>
          <a:prstGeom prst="roundRect">
            <a:avLst>
              <a:gd name="adj" fmla="val 3390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01150" y="1554480"/>
            <a:ext cx="224713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2.9s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201150" y="2121408"/>
            <a:ext cx="2247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pair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1000x1000, 1 CPU core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688336"/>
            <a:ext cx="11000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Accuracy is set by what is in the field of view — not by architecture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3054096"/>
            <a:ext cx="2612898" cy="621792"/>
          </a:xfrm>
          <a:prstGeom prst="roundRect">
            <a:avLst>
              <a:gd name="adj" fmla="val 588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054096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B6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92.5%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1709928" y="3054096"/>
            <a:ext cx="1277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corner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390138" y="3054096"/>
            <a:ext cx="2612898" cy="621792"/>
          </a:xfrm>
          <a:prstGeom prst="roundRect">
            <a:avLst>
              <a:gd name="adj" fmla="val 588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09594" y="3054096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372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42.1%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4505706" y="3054096"/>
            <a:ext cx="1277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crossing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85916" y="3054096"/>
            <a:ext cx="2612898" cy="621792"/>
          </a:xfrm>
          <a:prstGeom prst="roundRect">
            <a:avLst>
              <a:gd name="adj" fmla="val 588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5372" y="3054096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19.0%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301484" y="3054096"/>
            <a:ext cx="1277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via defect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981694" y="3054096"/>
            <a:ext cx="2612898" cy="621792"/>
          </a:xfrm>
          <a:prstGeom prst="roundRect">
            <a:avLst>
              <a:gd name="adj" fmla="val 588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01150" y="3054096"/>
            <a:ext cx="868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98A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0%</a:t>
            </a:r>
            <a:endParaRPr lang="en-US" sz="1900" dirty="0"/>
          </a:p>
        </p:txBody>
      </p:sp>
      <p:sp>
        <p:nvSpPr>
          <p:cNvPr id="30" name="Text 28"/>
          <p:cNvSpPr/>
          <p:nvPr/>
        </p:nvSpPr>
        <p:spPr>
          <a:xfrm>
            <a:off x="10097262" y="3054096"/>
            <a:ext cx="127787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landmark in FOV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94360" y="3785616"/>
            <a:ext cx="5340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— array corner in FOV, error 0.4px</a:t>
            </a:r>
            <a:endParaRPr lang="en-US" sz="1050" dirty="0"/>
          </a:p>
        </p:txBody>
      </p:sp>
      <p:pic>
        <p:nvPicPr>
          <p:cNvPr id="32" name="Image 0" descr="D:\Downloads\projects\semicon\examples\success_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206240"/>
            <a:ext cx="5340096" cy="2387023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254496" y="3785616"/>
            <a:ext cx="5340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8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FAILURE — defect-free array interior, error 320.5px, and confidence 0.85: wrong AND sure.</a:t>
            </a:r>
            <a:endParaRPr lang="en-US" sz="1050" dirty="0"/>
          </a:p>
        </p:txBody>
      </p:sp>
      <p:pic>
        <p:nvPicPr>
          <p:cNvPr id="34" name="Image 1" descr="D:\Downloads\projects\semicon\examples\failure_c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4496" y="4206240"/>
            <a:ext cx="5340096" cy="23870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16152" y="347472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&amp; Feasibility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16152" y="877824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Torch-free inference — a reviewer installs four packages and runs one command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517904"/>
            <a:ext cx="11000232" cy="621792"/>
          </a:xfrm>
          <a:prstGeom prst="roundRect">
            <a:avLst>
              <a:gd name="adj" fmla="val 588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1790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/ stack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517904"/>
            <a:ext cx="7936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· NumPy · OpenCV · SciPy · Pillow. No GPU, no learned weights on the shipped path.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" y="2231136"/>
            <a:ext cx="11000232" cy="621792"/>
          </a:xfrm>
          <a:prstGeom prst="roundRect">
            <a:avLst>
              <a:gd name="adj" fmla="val 588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31136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used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2231136"/>
            <a:ext cx="7936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and every benchmark on a single consumer CPU core. No cloud, no accelerator.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" y="2944368"/>
            <a:ext cx="11000232" cy="621792"/>
          </a:xfrm>
          <a:prstGeom prst="roundRect">
            <a:avLst>
              <a:gd name="adj" fmla="val 588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944368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generation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944368"/>
            <a:ext cx="7936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~200s per 100 pairs for a 100-pair split (1000x1000 reference + 1000x1000 search, supersampled render).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94360" y="3657600"/>
            <a:ext cx="11000232" cy="621792"/>
          </a:xfrm>
          <a:prstGeom prst="roundRect">
            <a:avLst>
              <a:gd name="adj" fmla="val 588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57600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per pair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657600"/>
            <a:ext cx="7936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2.9s mean, 7.1s worst case, for a 1000x1000 pair on one CPU core.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" y="4370832"/>
            <a:ext cx="11000232" cy="621792"/>
          </a:xfrm>
          <a:prstGeom prst="roundRect">
            <a:avLst>
              <a:gd name="adj" fmla="val 588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4370832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4370832"/>
            <a:ext cx="7936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bytes. The shipped path carries no weights. The unvalidated research re-ranker is a 32-d Siamese CNN (136 KB).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94360" y="5084064"/>
            <a:ext cx="11000232" cy="621792"/>
          </a:xfrm>
          <a:prstGeom prst="roundRect">
            <a:avLst>
              <a:gd name="adj" fmla="val 588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084064"/>
            <a:ext cx="2377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5084064"/>
            <a:ext cx="79369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 is the complete pip freeze; requirements-inference.txt is the 4-package torch-free subset.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94360" y="5870448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measured, not assumed: no measurable loss at 2x or 3x search-side sensor noise, though accuracy does fall away from the tuned lattice-pitch band — the spectral front end does not degrade the way a pixel-domain matcher would.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13716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&amp; Demo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94360" y="2377440"/>
            <a:ext cx="11000232" cy="1143000"/>
          </a:xfrm>
          <a:prstGeom prst="roundRect">
            <a:avLst>
              <a:gd name="adj" fmla="val 3200"/>
            </a:avLst>
          </a:prstGeom>
          <a:solidFill>
            <a:srgbClr val="1A222C"/>
          </a:solidFill>
          <a:ln w="12700">
            <a:solidFill>
              <a:srgbClr val="2C37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(mandatory)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60120" y="283464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«https://github.com/«USER»/drift-sense»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0120" y="3163824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 — generator, inference script, benchmarks, probes, citations.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3749040"/>
            <a:ext cx="11000232" cy="1143000"/>
          </a:xfrm>
          <a:prstGeom prst="roundRect">
            <a:avLst>
              <a:gd name="adj" fmla="val 3200"/>
            </a:avLst>
          </a:prstGeom>
          <a:solidFill>
            <a:srgbClr val="1A222C"/>
          </a:solidFill>
          <a:ln w="12700">
            <a:solidFill>
              <a:srgbClr val="2C37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 (optional)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4206240"/>
            <a:ext cx="10268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«LINK — algorithm running on one sample pair»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4535424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show localize.py run end-to-end on a fresh pair.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5257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395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reviewer runs, with no manual edits: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5559552"/>
            <a:ext cx="8686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requirements-inference.txt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B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localize.py reference.png search.png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02336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D6F2F5"/>
          </a:solidFill>
          <a:ln w="12700">
            <a:solidFill>
              <a:srgbClr val="1FB6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02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16152" y="347472"/>
            <a:ext cx="10378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2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216152" y="877824"/>
            <a:ext cx="10378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Per-choice justification in CITATIONS.md — 15 sections covering every augmentation and structural parameter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" y="1627632"/>
            <a:ext cx="5349240" cy="2029968"/>
          </a:xfrm>
          <a:prstGeom prst="roundRect">
            <a:avLst>
              <a:gd name="adj" fmla="val 180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17739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image formation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0392" y="2084832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Goldstein, J. et al. Scanning Electron Microscopy and X-Ray Microanalysis (edge effect; charging; detector collection efficiency).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Reimer, L. (1998). Scanning Electron Microscopy: Physics of Image Formation and Microanalysis, 2nd ed., Springer.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Cazaux, J. (2004). Charging in scanning electron microscopy from inside and outside the specimen.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Erasmus, S. J. &amp; Smith, K. C. A. (1982). An automatic focusing and astigmatism correction system for the SEM.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6217920" y="1627632"/>
            <a:ext cx="5349240" cy="2029968"/>
          </a:xfrm>
          <a:prstGeom prst="roundRect">
            <a:avLst>
              <a:gd name="adj" fmla="val 180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17739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modelling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73952" y="2084832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Zhang, Y. et al. (2019). A Poisson-Gaussian Denoising Dataset with Real Fluorescence Microscopy Images, CVPR.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Foi, A. et al. (2008). Practical Poissonian-Gaussian noise modeling for raw-data images.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Healey, G. E. &amp; Kondepudy, R. (1994). Radiometric CCD camera calibration and noise estimation.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Janesick, J. R. (2001). Scientific Charge-Coupled Devices, SPIE Press.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5349240" cy="2029968"/>
          </a:xfrm>
          <a:prstGeom prst="roundRect">
            <a:avLst>
              <a:gd name="adj" fmla="val 180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3986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structure &amp; pitch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4297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imec, DRAM peripheral transistors technology platform.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SemiAnalysis, The Memory Wall: Past, Present and Future of DRAM (pitch / feature-size / cell-area).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ASIC North, FinFET Technology and Layout, Part 1 (fin pitch, contacted poly pitch).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Sicard, E. Introducing 5-nm FinFET technology (fin and gate pitches by node).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Bunday, B. D. et al., fin/gate metrology dimensions (arXiv:1503.06617, Table 10).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6217920" y="3840480"/>
            <a:ext cx="5349240" cy="2029968"/>
          </a:xfrm>
          <a:prstGeom prst="roundRect">
            <a:avLst>
              <a:gd name="adj" fmla="val 1802"/>
            </a:avLst>
          </a:prstGeom>
          <a:solidFill>
            <a:srgbClr val="F2F5F7"/>
          </a:solidFill>
          <a:ln w="12700">
            <a:solidFill>
              <a:srgbClr val="D8E0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3986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F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Localization &amp; the ambiguity problem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73952" y="429768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Lewis, J. P. (1995). Fast Normalized Cross-Correlation, Vision Interface.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Patent 9,430,457 — Ambiguity reduction for image alignment applications.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Patent 11,481,922 — Online navigational drift correction for metrology measurements.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Reddy, B. S. &amp; Chatterji, B. N. (1996). An FFT-based technique for translation, rotation and scale-invariant registration.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Foroosh, H. et al. (2002). Extension of phase correlation to subpixel registration.</a:t>
            </a:r>
            <a:endParaRPr lang="en-US" sz="880" dirty="0"/>
          </a:p>
          <a:p>
            <a:pPr marL="342900" indent="-3429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880" dirty="0">
                <a:solidFill>
                  <a:srgbClr val="6372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Mack, C. (2007). Fundamental Principles of Optical Lithography; Levinson, H. J. (2010). Principles of Lithography.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2026-08-07T20:00:58Z</dcterms:created>
  <dcterms:modified xsi:type="dcterms:W3CDTF">2026-08-07T20:00:58Z</dcterms:modified>
</cp:coreProperties>
</file>