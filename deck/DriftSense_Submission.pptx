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l="12327" r="12327"/>
          <a:stretch/>
        </p:blipFill>
        <p:spPr>
          <a:xfrm>
            <a:off x="0" y="0"/>
            <a:ext cx="12191695" cy="72923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38130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2394815"/>
            <a:ext cx="11048695" cy="4362602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AEFF8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61949" y="3439058"/>
            <a:ext cx="10267798" cy="91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961949" y="5721401"/>
            <a:ext cx="10267798" cy="875995"/>
          </a:xfrm>
          <a:prstGeom prst="rect">
            <a:avLst/>
          </a:prstGeom>
          <a:solidFill>
            <a:srgbClr val="27338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961949" y="5721401"/>
            <a:ext cx="38405" cy="875995"/>
          </a:xfrm>
          <a:prstGeom prst="rect">
            <a:avLst/>
          </a:prstGeom>
          <a:solidFill>
            <a:srgbClr val="AEFF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3902659" y="7321601"/>
            <a:ext cx="123444" cy="1335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71500" y="1429207"/>
            <a:ext cx="6229807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Hackathon 2026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571500" y="2018995"/>
            <a:ext cx="409102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Submission Template</a:t>
            </a:r>
            <a:endParaRPr lang="en-US" sz="2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3047695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04849" y="3010205"/>
            <a:ext cx="6336922" cy="201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Instructions </a:t>
            </a:r>
            <a:r>
              <a:rPr lang="en-US" sz="12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(Remove this slide while submitting)</a:t>
            </a:r>
            <a:endParaRPr lang="en-US" sz="1800" i="1" dirty="0"/>
          </a:p>
        </p:txBody>
      </p:sp>
      <p:sp>
        <p:nvSpPr>
          <p:cNvPr id="16" name="Text 9"/>
          <p:cNvSpPr txBox="1"/>
          <p:nvPr/>
        </p:nvSpPr>
        <p:spPr>
          <a:xfrm>
            <a:off x="1190549" y="591159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NAMING CONVENTION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190549" y="6159398"/>
            <a:ext cx="35817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FF82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Team Name_PSNo (E.g. i4C_PS01)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3674059" y="7216445"/>
            <a:ext cx="4848149" cy="34290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2"/>
          <p:cNvSpPr txBox="1"/>
          <p:nvPr/>
        </p:nvSpPr>
        <p:spPr>
          <a:xfrm>
            <a:off x="4102913" y="7292340"/>
            <a:ext cx="4291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THIS SLIDE FOR INSTRUCTIONS IN FINAL SUBMISSION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961948" y="4286354"/>
            <a:ext cx="10267798" cy="134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 the solution document as per this template, feel free to modify layouts while keeping core content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Kindly keep the maximum slides limit up to six (6-7). ( Including the title slide) 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to avoid paragraphs and post your idea in points /diagrams / Infographics /pictures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 only use provided template for making the PPT without changing the idea details pointers (mentioned in previous slides).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to save the file in PDF and upload the same on portal. No PPT, Word Doc or any other format will be supported.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4234F-3583-BFF9-C279-17614D0CF4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511607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Silicon Bakers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Yogeshwar S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3rd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Ankam Charam Teja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3rd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Amrita Vishwa Vidyapeetham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+91 94878 40396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yogeshwarsetg@gmail.com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Selected: Drift-Sense - AI-Powered Navigation-Error Recovery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94760"/>
            <a:ext cx="10267798" cy="25603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15968"/>
            <a:ext cx="9875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tool must revisit the same site thousands of times a day. Between visits the stage drifts - thermal, vibration, mechanical slack - and lands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cannot detect this from the image: every die repeats the same layout, so the wrong cell looks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layouts are most regular - ~30 correlation peaks within 0.003 of the maximum in a single window.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Consequence: measurements trended over time silently compare two different places on the die.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3931920"/>
            <a:ext cx="10267798" cy="122529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33087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740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the geometry, do not search it: the ~10x magnification IS the ratio of the two lattice pitches - recovered to 0.10% median.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Spectrally subtract the lattice; what survives (array edges, dropped vias, gate crossings) is the only content carrying absolute identity.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248656"/>
            <a:ext cx="10267798" cy="118872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449824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72414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 cheaply over the frame, then decide at FULL reference resolution - where cells actually differ. Candidates compete.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 and FinFET, 50/50. Classical CV, zero learned weights on the shipped path - a measured choice, not an omission.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931920"/>
            <a:ext cx="10267798" cy="242316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16052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462272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- DRAM grids and FinFET fin/gate fields rendered supersampled, then area-averaged down 10x.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Imaging chain in physical order: edge brightening, astigmatic PSF, scan distortion, charging, shading, sensor noise last.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 Poisson+Gaussian noise per capture, search side heavier. Rotation on the reference crop only - rotating the search canvas silently corrupts ground truth.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Ground truth records the true centre AND whether the site is identifiable at all.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- lattice sensor &gt; sub-bin rotation + phase lock &gt; aperiodic residual &gt; NCC proposal + point-source votes &gt; full-res rescoring &gt; decision &gt; sub-pixel refinement &gt; (x, y).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9624"/>
            <a:ext cx="5020056" cy="250545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52544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Magnification is MEASURED, not swept - a blind 8-point sweep becomes a tight bracket.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Spatial induction: the lattice must prove its own geometry. Catches 13/13 silent failures at zero false alarms - and, sign inverted, predicts solvability (84.6% vs a 50% base rate).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Point-source voting: a dropped via is 1.3% of a footprint-wide correlation and is never proposed. A blob detector votes for the centre instead - recovering those sites with zero losses.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9624"/>
            <a:ext cx="5020056" cy="250545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52544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slides a template and takes the argmax. We measure the geometry, remove the lattice, and let candidates compete.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knows what it cannot know: 100% recall on detecting sites that are information-theoretically unidentifiable.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idea measured that did NOT pay is documented, not deleted - the centre prior, the phase penalty, the commit gate, a CNN re-ranker, a learned ranker. Five nulls, with the evidence shown.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2962656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ACCURACY  50.0% of 100 pairs within 15px; 62.5% of the 80 identifiable pairs; 92.5% when a non-periodic landmark is in view.</a:t>
            </a:r>
            <a:endParaRPr lang="en-US" sz="18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SPEED  3.1s per 1000x1000 pair on ONE CPU core - no GPU, no weights.  GEOMETRY  magnification 0.10%, rotation 0.15 deg.</a:t>
            </a:r>
            <a:endParaRPr lang="en-US" sz="18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ROBUSTNESS  tripling search-image sensor noise costs nothing measurable.</a:t>
            </a:r>
            <a:endParaRPr lang="en-US" sz="1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uccess_c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041648"/>
            <a:ext cx="4937760" cy="22128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" y="6272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/>
              <a:t>SUCCESS - array corner in view, error 0.4px</a:t>
            </a:r>
          </a:p>
        </p:txBody>
      </p:sp>
      <p:pic>
        <p:nvPicPr>
          <p:cNvPr id="31" name="Picture 30" descr="failure_c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0" y="4041648"/>
            <a:ext cx="4937760" cy="22128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17920" y="6272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/>
              <a:t>HONEST FAILURE - defect-free array interior, error 320.5px at confidence 0.85: wrong AND sure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145536"/>
            <a:ext cx="9467698" cy="1975104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346704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621024"/>
            <a:ext cx="9052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  Python 3.12 - NumPy, OpenCV, SciPy, Pillow. Four packages, no GPU, no torch on the inference path, no weights to download.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 every result produced on a single consumer CPU core.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TIMING  generation ~200s per 100 pairs; inference 3.1s mean, 7.1s worst case. Shipped model size: 0 bytes.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  two commands: pip install -r requirements-inference.txt, then python localize.py ref.png search.png.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REPRODUCIBILITY  requirements.txt is the complete pip freeze; every figure regenerates from a recorded seed.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Architecture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Components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Tools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https://github.com/yogeshwars-cys/Drift-Sense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{Paste your video link here - localize.py on one sample pair}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79776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4368"/>
            <a:ext cx="9235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augmentation, noise model and structural parameter is justified in CITATIONS.md - 15 sections, 2-3 public references each.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foundation: a perfectly periodic field is translation-invariant modulo the pitch, so absolute position is not recoverable from pixels. Measured - array corner in view 92.5%, nothing aperiodic 0.0%.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553712"/>
            <a:ext cx="9601200" cy="169164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6817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Zhang et al. (2019), A Poisson-Gaussian Denoising Dataset with Real Fluorescence Microscopy Images, CVPR - arxiv.org/pdf/1812.10366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193792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 Patent 9,430,457 - Ambiguity Reduction for Image Alignment Applications: NCC over a repeating pattern yields indistinguishable peaks, requiring explicit disambiguation.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05856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 Patent 11,481,922 - Online Navigational Drift Correction for Metrology Measurements: the same thermal-drift navigation problem.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